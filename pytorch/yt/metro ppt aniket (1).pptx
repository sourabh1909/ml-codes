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9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934" y="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EA741-6444-4056-39BC-2D32A9501D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C6B4E7-6B05-6DD6-6D7E-7D498210AC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C7AFB1-9EEF-C168-6065-FA5AFA002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94DDF-EFB2-4B75-A935-67876AB22547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93468C-71F3-5545-EEEB-FCECB5E8B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6369AE-28BD-361E-1002-F85D4B0BC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BCB09-C399-4C02-B424-A58DD444FA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4235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D249A-4A0F-431F-CE91-50E166D04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B0334B-188C-1974-4808-6BCDDF842D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E6A2D2-AAC1-CE06-9226-8267F47C5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94DDF-EFB2-4B75-A935-67876AB22547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97D14A-59BA-C1A6-6781-97BB51AF4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C0A2A3-3D6F-FF2F-7BE0-D46B717AD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BCB09-C399-4C02-B424-A58DD444FA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63818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D57C0-E11E-E78D-763C-8E6638DE98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6F42ED-1248-064B-73D9-57F7741F07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467DB4-4AB4-B6E1-08E9-BEA112D53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94DDF-EFB2-4B75-A935-67876AB22547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6FE395-C8D7-FC96-46F7-76006FF5A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E92056-2ECA-82CA-2DD9-F513714CC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BCB09-C399-4C02-B424-A58DD444FA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97938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920C0-D879-C7A1-CFB4-56DE3F85E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061110-0002-9661-D398-D76BB0A882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BA122A-9836-DF1D-0DF8-3F60817F7B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29ECE9-0472-8CBA-DDB1-38D9B253A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94DDF-EFB2-4B75-A935-67876AB22547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6DF3A0-7320-4249-1C21-A004F29AF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12B934-F2AE-5FCF-F5E0-B3E5BE206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BCB09-C399-4C02-B424-A58DD444FA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23613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CD2B8-891F-7882-D833-AD6BEA8A3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B32A88-6AD2-1F6B-30A9-FFD710E5E2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F8B887-21BD-BBB7-91AC-6B320C0B0E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517478-FEBE-016A-EAA0-1AB1AFF187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E24CC6-5A65-AF1B-C1AA-21F9A42235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5D42B9-79C8-A680-9CE2-BDA7C5C77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94DDF-EFB2-4B75-A935-67876AB22547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1ACB32-5E5B-858A-C17A-77E33E7F2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C56E95-C695-F5FC-0D78-9E3BF432B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BCB09-C399-4C02-B424-A58DD444FA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5783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98BAB-AAFC-1528-9BF3-F8F72303C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890586-44CC-9D66-C9E3-262D693D6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94DDF-EFB2-4B75-A935-67876AB22547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B10B99-B443-1003-7B7C-388FAB0D6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BE293C-E603-767A-0684-2BADA54AE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BCB09-C399-4C02-B424-A58DD444FA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8215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6C4AED-E39B-7AF3-C698-34F4C2515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94DDF-EFB2-4B75-A935-67876AB22547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AD6684-72C8-7C3B-3F59-9CA3D8D83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54A3CD-07C1-B5EA-27AF-81909E9D2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BCB09-C399-4C02-B424-A58DD444FA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29545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F53AB-D8C2-C5FB-0DA1-33B7AD9E2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C09E3-2254-DEB3-B071-91A9705D62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79028E-FB99-6436-2B6D-CA3043CA1F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133DB9-5E8A-03A0-0D69-363FF4FEF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94DDF-EFB2-4B75-A935-67876AB22547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72179D-B263-3292-598D-65BB86DF3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136CF0-CA6A-BC70-9811-D84AFC275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BCB09-C399-4C02-B424-A58DD444FA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43209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22EEB-BA5D-0F1D-0A2B-4CD35A4EA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A0EE11-C42F-0044-36E4-E50B753124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B59425-5C08-3CBC-90A3-97691A5DC6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47FC36-3A1C-26D2-BAC2-9C0518F63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94DDF-EFB2-4B75-A935-67876AB22547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591453-97CD-63BE-C599-1CA2437E2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469984-61EA-4C46-F01F-70951B352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BCB09-C399-4C02-B424-A58DD444FA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27646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4727F-35BD-84FE-1ED4-C52E133B9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6262DA-1F80-D346-AB54-1AA0645863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01B86A-87E1-91B9-805F-1AD8880E2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94DDF-EFB2-4B75-A935-67876AB22547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1A2BCF-FAE7-CF00-D670-6B399D778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5E6C06-CBAD-A601-0454-36B4BDD4A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BCB09-C399-4C02-B424-A58DD444FA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65664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A4B212-1825-CE17-01CA-E371664249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381C3E-8F71-2473-780A-99ECECA334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FC577C-98BD-F06C-2BB3-6E9E1D3C5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94DDF-EFB2-4B75-A935-67876AB22547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3F921E-F57E-4507-60E3-2768AE225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62C3E0-CDD5-8FC6-96DD-072F7E0F7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BCB09-C399-4C02-B424-A58DD444FA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57256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A9F4C5-4A2C-CFE3-7010-24430AA36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2ACE75-1C68-1B29-FC36-A2B35E67EB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C7D0E8-A9FF-6515-E0B7-CD912386F1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594DDF-EFB2-4B75-A935-67876AB22547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5D6CFE-C6F1-D509-E1BF-28EC4F1C4E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6711D5-C37A-6133-83B2-4D25D45F4C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8BCB09-C399-4C02-B424-A58DD444FA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05477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86597C4-11C6-6522-140F-582CA572EED1}"/>
              </a:ext>
            </a:extLst>
          </p:cNvPr>
          <p:cNvSpPr txBox="1"/>
          <p:nvPr/>
        </p:nvSpPr>
        <p:spPr>
          <a:xfrm>
            <a:off x="3444275" y="2219385"/>
            <a:ext cx="41604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u="sng" dirty="0"/>
              <a:t>Portable Arm CMM 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F06F1845-501B-E692-211D-A465AB2C5C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104" y="381000"/>
            <a:ext cx="3188171" cy="1316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ADFD23F-640C-09AC-84D3-EF14C0A24B8C}"/>
              </a:ext>
            </a:extLst>
          </p:cNvPr>
          <p:cNvSpPr txBox="1"/>
          <p:nvPr/>
        </p:nvSpPr>
        <p:spPr>
          <a:xfrm>
            <a:off x="8016240" y="4053840"/>
            <a:ext cx="3429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</a:t>
            </a:r>
            <a:r>
              <a:rPr lang="en-IN" sz="2000" b="1" u="sng" dirty="0"/>
              <a:t>By-</a:t>
            </a:r>
          </a:p>
          <a:p>
            <a:r>
              <a:rPr lang="en-IN" sz="2000" dirty="0"/>
              <a:t>      1. Aniket Mandawar-26</a:t>
            </a:r>
          </a:p>
          <a:p>
            <a:r>
              <a:rPr lang="en-IN" sz="2000" dirty="0"/>
              <a:t>       2. Parth </a:t>
            </a:r>
            <a:r>
              <a:rPr lang="en-IN" sz="2000" dirty="0" err="1"/>
              <a:t>Pandhre</a:t>
            </a:r>
            <a:r>
              <a:rPr lang="en-IN" sz="2000" dirty="0"/>
              <a:t> -33</a:t>
            </a:r>
          </a:p>
        </p:txBody>
      </p:sp>
    </p:spTree>
    <p:extLst>
      <p:ext uri="{BB962C8B-B14F-4D97-AF65-F5344CB8AC3E}">
        <p14:creationId xmlns:p14="http://schemas.microsoft.com/office/powerpoint/2010/main" val="12417041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DB184B-BCE8-A244-98BD-D034811A6349}"/>
              </a:ext>
            </a:extLst>
          </p:cNvPr>
          <p:cNvSpPr txBox="1"/>
          <p:nvPr/>
        </p:nvSpPr>
        <p:spPr>
          <a:xfrm>
            <a:off x="381000" y="606552"/>
            <a:ext cx="299923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b="1" u="sng" dirty="0"/>
              <a:t>Introduction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ADAEFE-DC61-CB7A-510F-5C540C9BFE71}"/>
              </a:ext>
            </a:extLst>
          </p:cNvPr>
          <p:cNvSpPr txBox="1"/>
          <p:nvPr/>
        </p:nvSpPr>
        <p:spPr>
          <a:xfrm>
            <a:off x="381000" y="1667116"/>
            <a:ext cx="599694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000" dirty="0">
                <a:latin typeface="Arial" panose="020B0604020202020204" pitchFamily="34" charset="0"/>
              </a:rPr>
              <a:t>Portable Arm CMM is a </a:t>
            </a:r>
            <a:r>
              <a:rPr lang="en-US" altLang="en-US" sz="2000" b="1" dirty="0">
                <a:latin typeface="Arial" panose="020B0604020202020204" pitchFamily="34" charset="0"/>
              </a:rPr>
              <a:t>3D measurement device.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000" dirty="0">
                <a:latin typeface="Arial" panose="020B0604020202020204" pitchFamily="34" charset="0"/>
              </a:rPr>
              <a:t>Used for </a:t>
            </a:r>
            <a:r>
              <a:rPr lang="en-US" altLang="en-US" sz="2000" b="1" dirty="0">
                <a:latin typeface="Arial" panose="020B0604020202020204" pitchFamily="34" charset="0"/>
              </a:rPr>
              <a:t>inspection, quality control, reverse engineering</a:t>
            </a:r>
            <a:r>
              <a:rPr lang="en-US" altLang="en-US" sz="2000" dirty="0">
                <a:latin typeface="Arial" panose="020B0604020202020204" pitchFamily="34" charset="0"/>
              </a:rPr>
              <a:t> 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000" dirty="0">
                <a:latin typeface="Arial" panose="020B0604020202020204" pitchFamily="34" charset="0"/>
              </a:rPr>
              <a:t>Can measure directly on shop floor 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000" dirty="0">
                <a:latin typeface="Arial" panose="020B0604020202020204" pitchFamily="34" charset="0"/>
              </a:rPr>
              <a:t>Eliminates need to move heavy components .</a:t>
            </a:r>
          </a:p>
        </p:txBody>
      </p:sp>
      <p:pic>
        <p:nvPicPr>
          <p:cNvPr id="1031" name="Picture 7" descr="High-Accuracy Portable CMM - 3D Measurement Solutions">
            <a:extLst>
              <a:ext uri="{FF2B5EF4-FFF2-40B4-BE49-F238E27FC236}">
                <a16:creationId xmlns:a16="http://schemas.microsoft.com/office/drawing/2014/main" id="{7A947CA7-A5BE-14D3-F73F-675B5823B1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7060" y="845078"/>
            <a:ext cx="4198620" cy="41986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03726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F3B8B1B-D800-4B1E-4E75-C226AC511C04}"/>
              </a:ext>
            </a:extLst>
          </p:cNvPr>
          <p:cNvSpPr txBox="1"/>
          <p:nvPr/>
        </p:nvSpPr>
        <p:spPr>
          <a:xfrm>
            <a:off x="457200" y="670560"/>
            <a:ext cx="423672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b="1" u="sng" dirty="0"/>
              <a:t>Problem Statement :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041F31-D53A-5BF6-0548-1CB8FA18A8C5}"/>
              </a:ext>
            </a:extLst>
          </p:cNvPr>
          <p:cNvSpPr txBox="1"/>
          <p:nvPr/>
        </p:nvSpPr>
        <p:spPr>
          <a:xfrm>
            <a:off x="457200" y="1447800"/>
            <a:ext cx="801624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000" dirty="0">
                <a:latin typeface="Arial" panose="020B0604020202020204" pitchFamily="34" charset="0"/>
              </a:rPr>
              <a:t>In industries, </a:t>
            </a:r>
            <a:r>
              <a:rPr lang="en-US" altLang="en-US" sz="2000" b="1" dirty="0">
                <a:latin typeface="Arial" panose="020B0604020202020204" pitchFamily="34" charset="0"/>
              </a:rPr>
              <a:t>large and heavy components</a:t>
            </a:r>
            <a:r>
              <a:rPr lang="en-US" altLang="en-US" sz="2000" dirty="0">
                <a:latin typeface="Arial" panose="020B0604020202020204" pitchFamily="34" charset="0"/>
              </a:rPr>
              <a:t> are difficult to move to traditional CMM.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" panose="020B0604020202020204" pitchFamily="34" charset="0"/>
              </a:rPr>
              <a:t>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000" dirty="0">
                <a:latin typeface="Arial" panose="020B0604020202020204" pitchFamily="34" charset="0"/>
              </a:rPr>
              <a:t>Traditional CMM is </a:t>
            </a:r>
            <a:r>
              <a:rPr lang="en-US" altLang="en-US" sz="2000" b="1" dirty="0">
                <a:latin typeface="Arial" panose="020B0604020202020204" pitchFamily="34" charset="0"/>
              </a:rPr>
              <a:t>fixed, costly, and time-consuming.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" panose="020B0604020202020204" pitchFamily="34" charset="0"/>
              </a:rPr>
              <a:t>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000" dirty="0">
                <a:latin typeface="Arial" panose="020B0604020202020204" pitchFamily="34" charset="0"/>
              </a:rPr>
              <a:t>Need for </a:t>
            </a:r>
            <a:r>
              <a:rPr lang="en-US" altLang="en-US" sz="2000" b="1" dirty="0">
                <a:latin typeface="Arial" panose="020B0604020202020204" pitchFamily="34" charset="0"/>
              </a:rPr>
              <a:t>on-site measurement</a:t>
            </a:r>
            <a:r>
              <a:rPr lang="en-US" altLang="en-US" sz="2000" dirty="0">
                <a:latin typeface="Arial" panose="020B0604020202020204" pitchFamily="34" charset="0"/>
              </a:rPr>
              <a:t> in workshops and production lines 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000" dirty="0">
                <a:latin typeface="Arial" panose="020B0604020202020204" pitchFamily="34" charset="0"/>
              </a:rPr>
              <a:t>Requirement of </a:t>
            </a:r>
            <a:r>
              <a:rPr lang="en-US" altLang="en-US" sz="2000" b="1" dirty="0">
                <a:latin typeface="Arial" panose="020B0604020202020204" pitchFamily="34" charset="0"/>
              </a:rPr>
              <a:t>quick inspection with reasonable accuracy.</a:t>
            </a:r>
            <a:r>
              <a:rPr lang="en-US" altLang="en-US" sz="2000" dirty="0"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527695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C1B2266-6AFD-112F-CA53-B21F391CB964}"/>
              </a:ext>
            </a:extLst>
          </p:cNvPr>
          <p:cNvSpPr txBox="1"/>
          <p:nvPr/>
        </p:nvSpPr>
        <p:spPr>
          <a:xfrm>
            <a:off x="502920" y="594360"/>
            <a:ext cx="432816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b="1" u="sng" dirty="0"/>
              <a:t>Construction / Components: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7B1A7E-9AD0-1C33-2AD5-5BE98BBC19DD}"/>
              </a:ext>
            </a:extLst>
          </p:cNvPr>
          <p:cNvSpPr txBox="1"/>
          <p:nvPr/>
        </p:nvSpPr>
        <p:spPr>
          <a:xfrm>
            <a:off x="502920" y="1524000"/>
            <a:ext cx="62484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Base:</a:t>
            </a:r>
            <a:r>
              <a:rPr lang="en-IN" sz="2000" dirty="0"/>
              <a:t> Rigid support, fixed on table .</a:t>
            </a:r>
          </a:p>
          <a:p>
            <a:endParaRPr lang="en-IN" sz="2000" dirty="0"/>
          </a:p>
          <a:p>
            <a:r>
              <a:rPr lang="en-IN" sz="2000" b="1" dirty="0"/>
              <a:t>Articulated Arm:</a:t>
            </a:r>
            <a:r>
              <a:rPr lang="en-IN" sz="2000" dirty="0"/>
              <a:t> Lightweight, high mobility.</a:t>
            </a:r>
          </a:p>
          <a:p>
            <a:r>
              <a:rPr lang="en-IN" sz="2000" dirty="0"/>
              <a:t> </a:t>
            </a:r>
          </a:p>
          <a:p>
            <a:r>
              <a:rPr lang="en-IN" sz="2000" b="1" dirty="0"/>
              <a:t>Encoders:</a:t>
            </a:r>
            <a:r>
              <a:rPr lang="en-IN" sz="2000" dirty="0"/>
              <a:t> Optical/rotary → angle measurement .</a:t>
            </a:r>
          </a:p>
          <a:p>
            <a:endParaRPr lang="en-IN" sz="2000" dirty="0"/>
          </a:p>
          <a:p>
            <a:r>
              <a:rPr lang="en-IN" sz="2000" b="1" dirty="0"/>
              <a:t>Probe/Stylus:</a:t>
            </a:r>
            <a:r>
              <a:rPr lang="en-IN" sz="2000" dirty="0"/>
              <a:t> Contact or laser scanning.</a:t>
            </a:r>
          </a:p>
          <a:p>
            <a:r>
              <a:rPr lang="en-IN" sz="2000" dirty="0"/>
              <a:t> </a:t>
            </a:r>
          </a:p>
          <a:p>
            <a:r>
              <a:rPr lang="en-IN" sz="2000" b="1" dirty="0"/>
              <a:t>Controller &amp; Software:</a:t>
            </a:r>
            <a:r>
              <a:rPr lang="en-IN" sz="2000" dirty="0"/>
              <a:t> Data processing and analysis. </a:t>
            </a:r>
          </a:p>
          <a:p>
            <a:endParaRPr lang="en-IN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60C1DE38-7B13-6986-5702-129E511F75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6363" y="1524000"/>
            <a:ext cx="4592717" cy="28148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7F67AC8-332F-FDBB-9EE0-2830B2E9BC1A}"/>
              </a:ext>
            </a:extLst>
          </p:cNvPr>
          <p:cNvSpPr txBox="1"/>
          <p:nvPr/>
        </p:nvSpPr>
        <p:spPr>
          <a:xfrm>
            <a:off x="3108960" y="1691640"/>
            <a:ext cx="2057400" cy="502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640516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311CC06-2B86-BB63-F991-EB21F8B9E279}"/>
              </a:ext>
            </a:extLst>
          </p:cNvPr>
          <p:cNvSpPr txBox="1"/>
          <p:nvPr/>
        </p:nvSpPr>
        <p:spPr>
          <a:xfrm>
            <a:off x="563880" y="449580"/>
            <a:ext cx="327660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b="1" u="sng" dirty="0"/>
              <a:t>Working Principle: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D4191A-5AA9-D75F-A572-5A8700705894}"/>
              </a:ext>
            </a:extLst>
          </p:cNvPr>
          <p:cNvSpPr txBox="1"/>
          <p:nvPr/>
        </p:nvSpPr>
        <p:spPr>
          <a:xfrm>
            <a:off x="457200" y="1234648"/>
            <a:ext cx="726948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000" dirty="0"/>
              <a:t>Works on </a:t>
            </a:r>
            <a:r>
              <a:rPr lang="en-US" sz="2000" b="1" dirty="0"/>
              <a:t>Coordinate Geometry + kinematics.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000" dirty="0"/>
              <a:t> Arm has </a:t>
            </a:r>
            <a:r>
              <a:rPr lang="en-US" sz="2000" b="1" dirty="0"/>
              <a:t>6–7 rotary joints (degrees of freedom)</a:t>
            </a:r>
            <a:r>
              <a:rPr lang="en-US" sz="2000" dirty="0"/>
              <a:t> 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000" dirty="0"/>
              <a:t>Each joint contains </a:t>
            </a:r>
            <a:r>
              <a:rPr lang="en-US" sz="2000" b="1" dirty="0"/>
              <a:t>high-precision encoders</a:t>
            </a:r>
            <a:r>
              <a:rPr lang="en-US" sz="2000" dirty="0"/>
              <a:t> 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000" dirty="0"/>
          </a:p>
          <a:p>
            <a:r>
              <a:rPr lang="en-US" sz="2000" b="1" u="sng" dirty="0"/>
              <a:t>Step-by-step working</a:t>
            </a:r>
            <a:r>
              <a:rPr lang="en-US" sz="2000" b="1" dirty="0"/>
              <a:t>:</a:t>
            </a:r>
            <a:endParaRPr lang="en-US" sz="2000" dirty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000" dirty="0"/>
              <a:t>Operator moves the arm manually 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en-US" sz="2000" dirty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000" dirty="0"/>
              <a:t>Encoders measure </a:t>
            </a:r>
            <a:r>
              <a:rPr lang="en-US" sz="2000" b="1" dirty="0"/>
              <a:t>angular position of each joint</a:t>
            </a:r>
            <a:r>
              <a:rPr lang="en-US" sz="2000" dirty="0"/>
              <a:t> 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en-US" sz="2000" dirty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000" dirty="0"/>
              <a:t>System applies </a:t>
            </a:r>
            <a:r>
              <a:rPr lang="en-US" sz="2000" b="1" dirty="0"/>
              <a:t>forward kinematics</a:t>
            </a:r>
            <a:r>
              <a:rPr lang="en-US" sz="2000" dirty="0"/>
              <a:t> to calculate position.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en-US" sz="2000" dirty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000" dirty="0"/>
              <a:t>Probe touches surface → </a:t>
            </a:r>
            <a:r>
              <a:rPr lang="en-US" sz="2000" b="1" dirty="0"/>
              <a:t>exact X, Y, Z coordinates recorded.</a:t>
            </a:r>
            <a:r>
              <a:rPr lang="en-US" sz="2000" dirty="0"/>
              <a:t>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000" dirty="0"/>
              <a:t>Multiple points collected → </a:t>
            </a:r>
            <a:r>
              <a:rPr lang="en-US" sz="2000" b="1" dirty="0"/>
              <a:t>3D model created.</a:t>
            </a:r>
            <a:r>
              <a:rPr lang="en-US" sz="2000" dirty="0"/>
              <a:t>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en-US" sz="2000" dirty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000" dirty="0"/>
              <a:t>Software compares data with CAD model → detects errors</a:t>
            </a:r>
          </a:p>
        </p:txBody>
      </p:sp>
    </p:spTree>
    <p:extLst>
      <p:ext uri="{BB962C8B-B14F-4D97-AF65-F5344CB8AC3E}">
        <p14:creationId xmlns:p14="http://schemas.microsoft.com/office/powerpoint/2010/main" val="19168349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CB5FA06-7AD2-588E-B606-631B851B98AF}"/>
              </a:ext>
            </a:extLst>
          </p:cNvPr>
          <p:cNvSpPr txBox="1"/>
          <p:nvPr/>
        </p:nvSpPr>
        <p:spPr>
          <a:xfrm>
            <a:off x="457200" y="563880"/>
            <a:ext cx="440436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b="1" u="sng" dirty="0"/>
              <a:t>Types + Applications: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91889F-9A46-4458-92C4-02EE92B1F7F8}"/>
              </a:ext>
            </a:extLst>
          </p:cNvPr>
          <p:cNvSpPr txBox="1"/>
          <p:nvPr/>
        </p:nvSpPr>
        <p:spPr>
          <a:xfrm>
            <a:off x="670560" y="1319852"/>
            <a:ext cx="493776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/>
              <a:t>Types</a:t>
            </a:r>
            <a:r>
              <a:rPr lang="en-US" sz="2000" b="1" dirty="0"/>
              <a:t>:</a:t>
            </a:r>
            <a:endParaRPr lang="en-US" sz="2000" dirty="0"/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Touch probe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Laser scanner.</a:t>
            </a:r>
          </a:p>
          <a:p>
            <a:r>
              <a:rPr lang="en-US" sz="2000" dirty="0"/>
              <a:t> </a:t>
            </a:r>
          </a:p>
          <a:p>
            <a:r>
              <a:rPr lang="en-US" sz="2000" b="1" u="sng" dirty="0"/>
              <a:t>Applications:</a:t>
            </a:r>
            <a:endParaRPr lang="en-US" sz="2000" u="sng" dirty="0"/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Automobile industry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Aerospace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Reverse engineering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Tool &amp; die inspection </a:t>
            </a:r>
          </a:p>
          <a:p>
            <a:endParaRPr lang="en-IN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109FF25A-2162-BD32-4F66-A5EDC16A9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7624" y="1040934"/>
            <a:ext cx="5523816" cy="3656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52439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CCF7337-B5AB-1282-4169-8BE5736C53B3}"/>
              </a:ext>
            </a:extLst>
          </p:cNvPr>
          <p:cNvSpPr txBox="1"/>
          <p:nvPr/>
        </p:nvSpPr>
        <p:spPr>
          <a:xfrm>
            <a:off x="457200" y="355833"/>
            <a:ext cx="463296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b="1" u="sng" dirty="0"/>
              <a:t>Advantages &amp; Limitations: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7CDB0D-8298-DBC3-E3A5-62200C4C2FAD}"/>
              </a:ext>
            </a:extLst>
          </p:cNvPr>
          <p:cNvSpPr txBox="1"/>
          <p:nvPr/>
        </p:nvSpPr>
        <p:spPr>
          <a:xfrm>
            <a:off x="701040" y="832887"/>
            <a:ext cx="6797040" cy="5601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/>
              <a:t>Advantages</a:t>
            </a:r>
            <a:r>
              <a:rPr lang="en-US" sz="2000" b="1" dirty="0"/>
              <a:t>:</a:t>
            </a:r>
            <a:endParaRPr lang="en-US" sz="2000" dirty="0"/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High </a:t>
            </a:r>
            <a:r>
              <a:rPr lang="en-US" sz="2000" b="1" dirty="0"/>
              <a:t>portability and flexibility</a:t>
            </a:r>
            <a:r>
              <a:rPr lang="en-US" sz="2000" dirty="0"/>
              <a:t> .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/>
          </a:p>
          <a:p>
            <a:pPr marL="457200" indent="-457200">
              <a:buFont typeface="+mj-lt"/>
              <a:buAutoNum type="arabicPeriod"/>
            </a:pPr>
            <a:r>
              <a:rPr lang="en-US" sz="2000" b="1" dirty="0"/>
              <a:t>Quick setup</a:t>
            </a:r>
            <a:r>
              <a:rPr lang="en-US" sz="2000" dirty="0"/>
              <a:t>, saves time.</a:t>
            </a:r>
          </a:p>
          <a:p>
            <a:r>
              <a:rPr lang="en-US" sz="2000" dirty="0"/>
              <a:t> </a:t>
            </a:r>
          </a:p>
          <a:p>
            <a:r>
              <a:rPr lang="en-US" sz="2000" dirty="0"/>
              <a:t>3.      Can measure </a:t>
            </a:r>
            <a:r>
              <a:rPr lang="en-US" sz="2000" b="1" dirty="0"/>
              <a:t>large &amp; complex shapes</a:t>
            </a:r>
            <a:r>
              <a:rPr lang="en-US" sz="2000" dirty="0"/>
              <a:t> .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/>
          </a:p>
          <a:p>
            <a:r>
              <a:rPr lang="en-US" sz="2000" dirty="0"/>
              <a:t>4.       Suitable for </a:t>
            </a:r>
            <a:r>
              <a:rPr lang="en-US" sz="2000" b="1" dirty="0"/>
              <a:t>field inspection</a:t>
            </a:r>
            <a:r>
              <a:rPr lang="en-US" sz="2000" dirty="0"/>
              <a:t> .</a:t>
            </a:r>
          </a:p>
          <a:p>
            <a:endParaRPr lang="en-US" sz="2000" dirty="0"/>
          </a:p>
          <a:p>
            <a:r>
              <a:rPr lang="en-US" sz="2000" b="1" u="sng" dirty="0"/>
              <a:t>Limitations:</a:t>
            </a:r>
            <a:endParaRPr lang="en-US" sz="2000" u="sng" dirty="0"/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Accuracy lower than traditional CMM (~±0.02 to 0.05 mm) </a:t>
            </a:r>
          </a:p>
          <a:p>
            <a:r>
              <a:rPr lang="en-US" sz="2000" b="1" dirty="0"/>
              <a:t>       Operator dependent</a:t>
            </a:r>
            <a:r>
              <a:rPr lang="en-US" sz="2000" dirty="0"/>
              <a:t> .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/>
          </a:p>
          <a:p>
            <a:r>
              <a:rPr lang="en-US" sz="2000" dirty="0"/>
              <a:t>2.      Affected by </a:t>
            </a:r>
            <a:r>
              <a:rPr lang="en-US" sz="2000" b="1" dirty="0"/>
              <a:t>temperature &amp; vibration</a:t>
            </a:r>
            <a:r>
              <a:rPr lang="en-US" sz="2000" dirty="0"/>
              <a:t> .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/>
          </a:p>
          <a:p>
            <a:r>
              <a:rPr lang="en-US" sz="2000" dirty="0"/>
              <a:t>3.       Limited working volume</a:t>
            </a:r>
          </a:p>
          <a:p>
            <a:endParaRPr lang="en-IN" dirty="0"/>
          </a:p>
        </p:txBody>
      </p:sp>
      <p:pic>
        <p:nvPicPr>
          <p:cNvPr id="7170" name="Picture 2" descr="Absolute Arm Compact | Hexagon">
            <a:extLst>
              <a:ext uri="{FF2B5EF4-FFF2-40B4-BE49-F238E27FC236}">
                <a16:creationId xmlns:a16="http://schemas.microsoft.com/office/drawing/2014/main" id="{9454EB61-DEF8-21AF-8425-DB91754662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9080" y="1031007"/>
            <a:ext cx="4023360" cy="37091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5489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9017000-29C9-E170-C7CB-05A425FF921E}"/>
              </a:ext>
            </a:extLst>
          </p:cNvPr>
          <p:cNvSpPr txBox="1"/>
          <p:nvPr/>
        </p:nvSpPr>
        <p:spPr>
          <a:xfrm>
            <a:off x="853440" y="670560"/>
            <a:ext cx="329184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b="1" u="sng" dirty="0"/>
              <a:t>Conclusion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57728C-26E4-A553-D3C5-9C5A1A785B4C}"/>
              </a:ext>
            </a:extLst>
          </p:cNvPr>
          <p:cNvSpPr txBox="1"/>
          <p:nvPr/>
        </p:nvSpPr>
        <p:spPr>
          <a:xfrm>
            <a:off x="482600" y="1874520"/>
            <a:ext cx="526288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000" dirty="0">
                <a:latin typeface="Arial" panose="020B0604020202020204" pitchFamily="34" charset="0"/>
              </a:rPr>
              <a:t>Portable Arm CMM is a </a:t>
            </a:r>
            <a:r>
              <a:rPr lang="en-US" altLang="en-US" sz="2000" b="1" dirty="0">
                <a:latin typeface="Arial" panose="020B0604020202020204" pitchFamily="34" charset="0"/>
              </a:rPr>
              <a:t>modern, flexible measuring tool</a:t>
            </a:r>
            <a:r>
              <a:rPr lang="en-US" altLang="en-US" sz="2000" dirty="0">
                <a:latin typeface="Arial" panose="020B0604020202020204" pitchFamily="34" charset="0"/>
              </a:rPr>
              <a:t> 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000" dirty="0">
                <a:latin typeface="Arial" panose="020B0604020202020204" pitchFamily="34" charset="0"/>
              </a:rPr>
              <a:t>Ideal for </a:t>
            </a:r>
            <a:r>
              <a:rPr lang="en-US" altLang="en-US" sz="2000" b="1" dirty="0">
                <a:latin typeface="Arial" panose="020B0604020202020204" pitchFamily="34" charset="0"/>
              </a:rPr>
              <a:t>on-site inspection and large parts</a:t>
            </a:r>
            <a:r>
              <a:rPr lang="en-US" altLang="en-US" sz="2000" dirty="0">
                <a:latin typeface="Arial" panose="020B0604020202020204" pitchFamily="34" charset="0"/>
              </a:rPr>
              <a:t> 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000" dirty="0">
                <a:latin typeface="Arial" panose="020B0604020202020204" pitchFamily="34" charset="0"/>
              </a:rPr>
              <a:t>Plays an important role in </a:t>
            </a:r>
            <a:r>
              <a:rPr lang="en-US" altLang="en-US" sz="2000" b="1" dirty="0">
                <a:latin typeface="Arial" panose="020B0604020202020204" pitchFamily="34" charset="0"/>
              </a:rPr>
              <a:t>advanced manufacturing and quality control</a:t>
            </a:r>
            <a:r>
              <a:rPr lang="en-US" altLang="en-US" sz="2000" dirty="0"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5124" name="Picture 4" descr="Portable 3D measuring arm">
            <a:extLst>
              <a:ext uri="{FF2B5EF4-FFF2-40B4-BE49-F238E27FC236}">
                <a16:creationId xmlns:a16="http://schemas.microsoft.com/office/drawing/2014/main" id="{BC9310B8-5D67-81C6-9293-716961D8CF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5086" y="1205568"/>
            <a:ext cx="5497897" cy="3825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87690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Words>348</Words>
  <Application>Microsoft Office PowerPoint</Application>
  <PresentationFormat>Widescreen</PresentationFormat>
  <Paragraphs>79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Ritesh Mundhe</dc:creator>
  <cp:lastModifiedBy>Ritesh Mundhe</cp:lastModifiedBy>
  <cp:revision>1</cp:revision>
  <dcterms:created xsi:type="dcterms:W3CDTF">2026-04-19T11:11:00Z</dcterms:created>
  <dcterms:modified xsi:type="dcterms:W3CDTF">2026-04-19T11:21:00Z</dcterms:modified>
</cp:coreProperties>
</file>